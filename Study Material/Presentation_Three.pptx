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6"/>
  </p:notesMasterIdLst>
  <p:sldIdLst>
    <p:sldId id="27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177D1-0FEF-462A-920F-10BD80F50752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DE13F3-4FE4-4585-83FB-060221A420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385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9757725-CA17-4DC3-9253-8D3257F5EA8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Amity Business School</a:t>
            </a:r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8553A5EE-643E-47D8-BADE-12E3352222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91B37C-D23D-4044-A0D7-D278D601860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9EF66EC0-4FE1-46B6-BB18-0CA2B49577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31932C52-D9FE-40DA-9774-40F60EF278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5D915-96A7-4CD0-9212-5542BCEEF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F98FF-4F17-43A1-AE1C-B11C014FD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15840-09EB-4AAB-80B5-D5C36E474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94761-AAF8-45B7-A1E4-DF3036F57DC0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0BE0F-65E5-4964-985F-1E0553643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D57C7-0BA8-4300-BED7-CCFE56D6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A1C4-6327-47C2-B098-F3688B63E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689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91B7-B0B8-45A6-A547-884F3EF3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89F0A-543F-4503-96C3-9E2AA04A6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599B3-2495-4074-8B46-ED1E67298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94761-AAF8-45B7-A1E4-DF3036F57DC0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27DC9-F233-422C-9200-04E9957A8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F80B-AB2E-4974-B4E1-990F0409B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A1C4-6327-47C2-B098-F3688B63E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130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F1E1-A257-410A-A322-2B6BC4FA2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578F0-F474-4EF2-B2D9-4E1E30F4D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4D198-48E8-4AFB-918D-4FCA2693D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94761-AAF8-45B7-A1E4-DF3036F57DC0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ADC87-005E-40BC-B617-81BD279A4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D8878-D0F2-4D89-B58C-7876E35D2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A1C4-6327-47C2-B098-F3688B63E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53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4F8D9-7BCB-456D-AAA3-D2CEE7559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1F8B1-E255-4EC1-BC44-EEC21A80B4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90228-6113-4E43-B7C9-A0A423DF5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12627-D3DB-46E7-8821-D50DC7AB0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94761-AAF8-45B7-A1E4-DF3036F57DC0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3D261-7196-4958-8E87-08EC9BB46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FA005-F37D-41FC-B06B-B0787AD72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A1C4-6327-47C2-B098-F3688B63E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065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F8DA2-D61A-498E-B200-755C48201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67456-E33D-460C-9C6A-5B5D6AFC0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1EE7E-1E4B-4E5E-8FF8-686E281F7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1514F4-43D9-42D1-908A-1CBD36282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5BC6AF-B4E2-478A-9E7A-AB91D2DF7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6E31EF-21AD-490E-8DF2-BA0688E0C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94761-AAF8-45B7-A1E4-DF3036F57DC0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AA4ED4-9509-4A9D-AA15-3412C7EC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A30E18-430C-49C4-9CBC-17DCB80F3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A1C4-6327-47C2-B098-F3688B63E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563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FE4AE-58E1-4DB2-8DB6-CB84A2CF4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8957C-DA4F-4A7D-AE99-0C8DC09C5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94761-AAF8-45B7-A1E4-DF3036F57DC0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5A3236-C653-46AC-B75A-65FFF9E42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60915-DDE0-45D1-9E33-8E9EB8E3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A1C4-6327-47C2-B098-F3688B63E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880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9EEDF0-182D-4470-A743-6730BD5C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94761-AAF8-45B7-A1E4-DF3036F57DC0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CD567-028F-4C41-BF48-536CC2AB5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FCB4F-51B4-4421-87DA-0D1CEDCB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A1C4-6327-47C2-B098-F3688B63E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000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2D5E-5BF5-4698-B2FC-AA333BB08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6E4F-63A5-4B66-B94F-0DC0AAAE4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D8D8B-9F3D-45A5-A26F-AEF6D8FA4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F3F73-A465-4FF3-9F16-963DEDAD6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94761-AAF8-45B7-A1E4-DF3036F57DC0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8E60A-1F81-43ED-BAF0-8B0043B97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FB052-72A1-49CB-8E00-EAEDF5C47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A1C4-6327-47C2-B098-F3688B63E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053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D879-D435-4A47-9D9E-246DF7D5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56E8B7-5538-42BC-834E-70454746C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575EB-245D-49DD-AD3B-4518919A7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33A23-CA00-491C-BB55-441C70B01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94761-AAF8-45B7-A1E4-DF3036F57DC0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969AF-D9E8-4F08-8A2C-705AC0DEA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3891C6-BB5B-4554-926D-398A164C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A1C4-6327-47C2-B098-F3688B63E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544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47A72-D9FF-40DC-9CFA-1E38607A4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1916E7-024A-4FF1-8315-1F35E947F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DCA19-E82C-4479-BB74-9394664B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94761-AAF8-45B7-A1E4-DF3036F57DC0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5BC57-2A1D-41C0-9167-2DB91B647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683BE-543F-4B81-9886-F0706CFE8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A1C4-6327-47C2-B098-F3688B63E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659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1BD67F-5126-4892-AC56-119135F866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7850E-447A-4086-A065-17A178044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D5BF7-186F-4BAA-ABF0-BBF34762E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94761-AAF8-45B7-A1E4-DF3036F57DC0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5EE3C-3528-4C56-8188-B7243ACFC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12A66-CA63-4D85-B3DA-C7BEB7BC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A1C4-6327-47C2-B098-F3688B63E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145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409DC9-A089-4722-8000-92272C6647F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81042-9518-4231-AAE2-043B2E8184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217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A13BB02-94A8-48F4-B0C7-B5406AF2341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86352F-0A61-457A-980E-5860C46A4C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8212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83D122A-408B-4B40-A813-32B76215D4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70E676-E194-4F4A-8F98-7B24C69184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5260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D882D0-6168-4FC7-AC8F-87F5F197963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4D449B-8C9B-4984-92A6-609FEC2BBF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4344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ED91BD-7E53-4980-91A9-D6A412CFFE1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C2A10-7761-4A14-A9DD-0458255436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5778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9C028DC-445C-4872-BC94-C3E3A22AFF8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671213-5958-4B8F-A8AD-3B0019ED4E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83658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0AE6B09-C480-4770-938B-B8DB8792AF0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DDFBB-12FE-46E3-98C0-B7E805BEC4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3512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AD18694-2930-4DFC-A2D6-371AA34249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E4D983-0A47-4C1D-A1A6-C9FFACE56E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32937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8B2D143-C6C6-441C-A7CC-B04F7EFB4A8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7DEEF8-EFD7-4915-83F1-B0C26C15D0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417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2653E20-9C36-4006-8F84-36EF62310C2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EDD3FF-6DF8-40DD-8260-25D872F19B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99081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565898E-0377-44D6-8505-A04CD5E133F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923B72-DBA9-4386-B9B2-CF530A5F58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8847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B81DEC-75BB-4E80-9FBD-D364A39F5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C625F-5C2E-4768-A9E9-764F900C6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9AED5-15CB-4EFD-A5B6-5A1E4FA910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94761-AAF8-45B7-A1E4-DF3036F57DC0}" type="datetimeFigureOut">
              <a:rPr lang="en-IN" smtClean="0"/>
              <a:t>27-07-2021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865D2-369E-4AB3-808A-C820C066A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BF476-D40E-4E24-B37B-D8E9A0040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5A1C4-6327-47C2-B098-F3688B63E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278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8">
            <a:extLst>
              <a:ext uri="{FF2B5EF4-FFF2-40B4-BE49-F238E27FC236}">
                <a16:creationId xmlns:a16="http://schemas.microsoft.com/office/drawing/2014/main" id="{8DD331CD-3CC2-4545-A1C7-5967E17D19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65"/>
          <a:stretch>
            <a:fillRect/>
          </a:stretch>
        </p:blipFill>
        <p:spPr bwMode="auto">
          <a:xfrm>
            <a:off x="4234" y="3176"/>
            <a:ext cx="12183533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>
            <a:extLst>
              <a:ext uri="{FF2B5EF4-FFF2-40B4-BE49-F238E27FC236}">
                <a16:creationId xmlns:a16="http://schemas.microsoft.com/office/drawing/2014/main" id="{E7334223-A22B-47DD-94DD-5CEDF563636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65684" y="6400800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100"/>
            </a:lvl1pPr>
          </a:lstStyle>
          <a:p>
            <a:pPr>
              <a:defRPr/>
            </a:pPr>
            <a:fld id="{53561B15-1A3D-461A-B5C8-49D0E702FB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BDAD07AA-78E0-4D75-9E8E-46038CABD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609600"/>
            <a:ext cx="3556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600" b="1">
                <a:solidFill>
                  <a:schemeClr val="accent2"/>
                </a:solidFill>
              </a:rPr>
              <a:t>ASET</a:t>
            </a:r>
          </a:p>
        </p:txBody>
      </p:sp>
      <p:sp>
        <p:nvSpPr>
          <p:cNvPr id="1029" name="Rectangle 10">
            <a:extLst>
              <a:ext uri="{FF2B5EF4-FFF2-40B4-BE49-F238E27FC236}">
                <a16:creationId xmlns:a16="http://schemas.microsoft.com/office/drawing/2014/main" id="{81C173C7-EFF1-4620-8B4B-35F7536C7EF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251200" y="6705600"/>
            <a:ext cx="8940800" cy="152400"/>
          </a:xfrm>
          <a:prstGeom prst="rect">
            <a:avLst/>
          </a:prstGeom>
          <a:solidFill>
            <a:srgbClr val="F1B43B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254514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>
            <a:extLst>
              <a:ext uri="{FF2B5EF4-FFF2-40B4-BE49-F238E27FC236}">
                <a16:creationId xmlns:a16="http://schemas.microsoft.com/office/drawing/2014/main" id="{3B10630F-D468-4D6C-8FA0-5781531211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9DD51B-8E24-4744-9B2E-C7780A325843}" type="slidenum"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123" name="Rectangle 4">
            <a:extLst>
              <a:ext uri="{FF2B5EF4-FFF2-40B4-BE49-F238E27FC236}">
                <a16:creationId xmlns:a16="http://schemas.microsoft.com/office/drawing/2014/main" id="{653DC5CC-CD93-4F3A-848F-D64AB6F80DD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362200" y="1676401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4500" dirty="0">
                <a:solidFill>
                  <a:schemeClr val="tx1"/>
                </a:solidFill>
                <a:latin typeface="Times New Roman" panose="02020603050405020304" pitchFamily="18" charset="0"/>
              </a:rPr>
              <a:t>Data Structures Using C</a:t>
            </a:r>
            <a:br>
              <a:rPr lang="en-US" altLang="en-US" sz="45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Course Code: CSIT124</a:t>
            </a:r>
            <a:br>
              <a:rPr lang="en-US" altLang="en-US" sz="45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  <a:t>B. Tech. (CSE)</a:t>
            </a:r>
            <a:br>
              <a:rPr lang="en-US" altLang="en-US" sz="250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500">
                <a:solidFill>
                  <a:schemeClr val="tx1"/>
                </a:solidFill>
                <a:latin typeface="Times New Roman" panose="02020603050405020304" pitchFamily="18" charset="0"/>
              </a:rPr>
              <a:t>Module 1</a:t>
            </a:r>
            <a:br>
              <a:rPr lang="en-US" altLang="en-US" sz="2500">
                <a:solidFill>
                  <a:schemeClr val="tx1"/>
                </a:solidFill>
                <a:latin typeface="Times New Roman" panose="02020603050405020304" pitchFamily="18" charset="0"/>
              </a:rPr>
            </a:br>
            <a:br>
              <a:rPr lang="en-US" altLang="en-US" sz="250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500">
                <a:solidFill>
                  <a:schemeClr val="tx1"/>
                </a:solidFill>
                <a:latin typeface="Times New Roman" panose="02020603050405020304" pitchFamily="18" charset="0"/>
              </a:rPr>
              <a:t>			Dr. </a:t>
            </a: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  <a:t>Sheenu Rizvi</a:t>
            </a:r>
            <a:b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en-US" sz="2500" dirty="0">
                <a:solidFill>
                  <a:schemeClr val="tx1"/>
                </a:solidFill>
                <a:latin typeface="Times New Roman" panose="02020603050405020304" pitchFamily="18" charset="0"/>
              </a:rPr>
              <a:t>			  Asst.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51B791-5E1E-44D4-93E0-B097D231204F}"/>
              </a:ext>
            </a:extLst>
          </p:cNvPr>
          <p:cNvSpPr txBox="1"/>
          <p:nvPr/>
        </p:nvSpPr>
        <p:spPr>
          <a:xfrm>
            <a:off x="159026" y="172278"/>
            <a:ext cx="12032974" cy="33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32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Array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 array is a group of related data item that share a common name or collection of similar entity stored in contiguous memory location. Each of elements of an array share a variable but each element having different index no. known as subscript. An array can be a single dimensional or multi-dimensional and number of subscripts determines its dimension.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Ex.  Array contains day of week, month of year, list of valid employee number, list of employee or student name.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28557A-247E-46E6-B472-633ACE1E2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050" y="3381375"/>
            <a:ext cx="3438525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34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279F3A-B3B3-47F2-9779-037F304EE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703" y="2107096"/>
            <a:ext cx="8981562" cy="287794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25AB1F-213A-49CA-8246-526A33740D8E}"/>
              </a:ext>
            </a:extLst>
          </p:cNvPr>
          <p:cNvCxnSpPr/>
          <p:nvPr/>
        </p:nvCxnSpPr>
        <p:spPr>
          <a:xfrm>
            <a:off x="1550504" y="2928730"/>
            <a:ext cx="76597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AFCFB1-DE85-44DC-B531-433985BEAD56}"/>
              </a:ext>
            </a:extLst>
          </p:cNvPr>
          <p:cNvCxnSpPr/>
          <p:nvPr/>
        </p:nvCxnSpPr>
        <p:spPr>
          <a:xfrm>
            <a:off x="9210261" y="2107096"/>
            <a:ext cx="0" cy="821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491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7F272F-21BB-4B2F-B6BE-983B2BE85979}"/>
              </a:ext>
            </a:extLst>
          </p:cNvPr>
          <p:cNvSpPr txBox="1"/>
          <p:nvPr/>
        </p:nvSpPr>
        <p:spPr>
          <a:xfrm>
            <a:off x="4634181" y="382202"/>
            <a:ext cx="10681253" cy="2347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2405380" algn="ctr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DECLARATION OF AN ARRAY :</a:t>
            </a: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2405380" algn="ctr"/>
              </a:tabLst>
            </a:pP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2405380" algn="ctr"/>
              </a:tabLst>
            </a:pPr>
            <a:endParaRPr lang="en-IN" sz="1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2405380" algn="ctr"/>
              </a:tabLst>
            </a:pPr>
            <a:endParaRPr lang="en-IN" sz="1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2405380" algn="ctr"/>
              </a:tabLst>
            </a:pPr>
            <a:endParaRPr lang="en-IN" sz="1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2405380" algn="ctr"/>
              </a:tabLst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DD829D-054D-4B10-A897-81491434D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59" y="1001368"/>
            <a:ext cx="6578968" cy="11087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65884B-ED1C-44C8-B3C7-1D51B44AD531}"/>
              </a:ext>
            </a:extLst>
          </p:cNvPr>
          <p:cNvSpPr txBox="1"/>
          <p:nvPr/>
        </p:nvSpPr>
        <p:spPr>
          <a:xfrm>
            <a:off x="977670" y="1813603"/>
            <a:ext cx="7874781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int, float, double, char                        Maximum number of element it can store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8B5803-6729-49E4-A624-848B6771F868}"/>
              </a:ext>
            </a:extLst>
          </p:cNvPr>
          <p:cNvSpPr txBox="1"/>
          <p:nvPr/>
        </p:nvSpPr>
        <p:spPr>
          <a:xfrm>
            <a:off x="737359" y="3016522"/>
            <a:ext cx="11105321" cy="2876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Ex.  int marks [30];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quantity written in bracket [] to select particular value is called a subscript or an index.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first element of an array has subscript [0].</a:t>
            </a:r>
          </a:p>
          <a:p>
            <a:pPr>
              <a:lnSpc>
                <a:spcPct val="150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maximum range is 0 to 29.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595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DA3EA3-B896-407E-8918-B39C915DD8B7}"/>
              </a:ext>
            </a:extLst>
          </p:cNvPr>
          <p:cNvSpPr txBox="1"/>
          <p:nvPr/>
        </p:nvSpPr>
        <p:spPr>
          <a:xfrm>
            <a:off x="53008" y="689317"/>
            <a:ext cx="12085983" cy="6525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endParaRPr lang="en-IN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133350" algn="l"/>
                <a:tab pos="2405380" algn="ctr"/>
                <a:tab pos="2865755" algn="ctr"/>
              </a:tabLs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Before using an array, its data types and dimension must be declared.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133350" algn="l"/>
                <a:tab pos="2405380" algn="ctr"/>
                <a:tab pos="2865755" algn="ctr"/>
              </a:tabLs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However big an array its elements are always stored in contiguous location.</a:t>
            </a:r>
          </a:p>
          <a:p>
            <a:pPr lvl="0">
              <a:lnSpc>
                <a:spcPct val="150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endParaRPr lang="en-IN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Ex.   The length of an array can be evaluated as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length =upper limit – lower limit + 1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that is length=UL- LL+1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an array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abc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[100] the length of the array can be evaluated as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UL=99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LL=0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Length=99-0 +1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=100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That is </a:t>
            </a:r>
            <a:r>
              <a:rPr lang="en-IN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abc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will store maximum of 100 elements only.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009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257CF7-1306-4FFB-9B0A-7AD783BF575A}"/>
              </a:ext>
            </a:extLst>
          </p:cNvPr>
          <p:cNvSpPr txBox="1"/>
          <p:nvPr/>
        </p:nvSpPr>
        <p:spPr>
          <a:xfrm>
            <a:off x="633046" y="956602"/>
            <a:ext cx="9144000" cy="5905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ACCESSING OF ARRAY ELEMENT: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// WAP to ask user enter age of 10 student and display them.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#include&lt;stdio.h&gt;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 main()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</a:t>
            </a:r>
            <a:r>
              <a:rPr lang="en-IN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array[10];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=0;i&lt;10;i++)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array[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]=0;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("enter age for student");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for(</a:t>
            </a:r>
            <a:r>
              <a:rPr lang="en-IN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=0;i&lt;10;i++)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scanf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("%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d",&amp;array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512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DC88D8-2E08-4EDE-91C6-29E77781444C}"/>
              </a:ext>
            </a:extLst>
          </p:cNvPr>
          <p:cNvSpPr txBox="1"/>
          <p:nvPr/>
        </p:nvSpPr>
        <p:spPr>
          <a:xfrm>
            <a:off x="140677" y="745588"/>
            <a:ext cx="12192000" cy="5902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("the age of student is");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=0;i&lt;10;i++)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("the age of %d   student is %d \n ",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array[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  }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INITIALIZATION OF AN ARRAY: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specific value is not given in array, they are supposed to contain garbage value, if the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array is initialized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where it is declared mentioning the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dimension of array is optional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We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initialize array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at the time of declaration its storage class must be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static or extern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static int temp [5] = {10,20,30,40,50};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static int temp [] = {1,2,3,4};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5613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E73D2D-1EE6-427B-8D2F-F89A51EF3E0B}"/>
              </a:ext>
            </a:extLst>
          </p:cNvPr>
          <p:cNvSpPr txBox="1"/>
          <p:nvPr/>
        </p:nvSpPr>
        <p:spPr>
          <a:xfrm>
            <a:off x="0" y="1"/>
            <a:ext cx="12192000" cy="6234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I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yntax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	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static&lt;data type&gt;&lt;array name&gt;[size]={list of value};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	Program to declare an array using static storage class and display the contents.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#include&lt;stdio.h&gt;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 main ()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static int array[8]={10,20,30,40,50,60,70,80};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</a:t>
            </a: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for(</a:t>
            </a: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=0;i&lt;8;i++)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(“%d %d”, </a:t>
            </a: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array[</a:t>
            </a:r>
            <a:r>
              <a:rPr lang="en-IN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}}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730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9B4D2B-8A90-4A73-9D1D-A9A2A9A5FD41}"/>
              </a:ext>
            </a:extLst>
          </p:cNvPr>
          <p:cNvSpPr txBox="1"/>
          <p:nvPr/>
        </p:nvSpPr>
        <p:spPr>
          <a:xfrm>
            <a:off x="119269" y="921944"/>
            <a:ext cx="10005391" cy="6063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Program to declare an integer array of 10 element and initialize the element to zero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/*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#include&lt;stdio.h&gt;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 main()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i,arr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[10];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=0;i&lt;10;i++)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]=0;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*/</a:t>
            </a: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1000"/>
              </a:spcAft>
              <a:tabLst>
                <a:tab pos="133350" algn="l"/>
                <a:tab pos="2405380" algn="ctr"/>
                <a:tab pos="2865755" algn="ctr"/>
              </a:tabLst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805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070F91-230C-4E18-AF08-03FD8E816FED}"/>
              </a:ext>
            </a:extLst>
          </p:cNvPr>
          <p:cNvSpPr txBox="1"/>
          <p:nvPr/>
        </p:nvSpPr>
        <p:spPr>
          <a:xfrm>
            <a:off x="0" y="1132030"/>
            <a:ext cx="12192000" cy="195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TRAVERSE IN LINEAR ARRAY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Suppose we have an array ‘M’ i:e collection of integer datatype in the computer memory, if we visit each and every element in ‘M’ then this visiting process is called traversing.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N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7ABD5E-8B67-48D0-8480-AD1474A62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564" y="2667828"/>
            <a:ext cx="2314575" cy="38481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7B25F8-6848-4E65-BF5D-B528B1AC1B24}"/>
              </a:ext>
            </a:extLst>
          </p:cNvPr>
          <p:cNvCxnSpPr/>
          <p:nvPr/>
        </p:nvCxnSpPr>
        <p:spPr>
          <a:xfrm>
            <a:off x="989564" y="3139474"/>
            <a:ext cx="13428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84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3C6F1E-9349-4CE3-8EEA-464ABF5E3C02}"/>
              </a:ext>
            </a:extLst>
          </p:cNvPr>
          <p:cNvSpPr txBox="1"/>
          <p:nvPr/>
        </p:nvSpPr>
        <p:spPr>
          <a:xfrm>
            <a:off x="267287" y="928468"/>
            <a:ext cx="9144000" cy="5753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Lb=0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Ub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=4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counter=Lb=0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Lineararr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[counter]=100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counter=counter+1 =  0+1  = 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Linear[Counter]=200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#include&lt;stdio.h&gt;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void traverse(int *,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int,int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void input(int *,int, int);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void traverse(int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[], int lb, int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ub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   int counter;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762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B5270B-0056-4038-9493-CAB34415A960}"/>
              </a:ext>
            </a:extLst>
          </p:cNvPr>
          <p:cNvSpPr txBox="1"/>
          <p:nvPr/>
        </p:nvSpPr>
        <p:spPr>
          <a:xfrm>
            <a:off x="239151" y="998807"/>
            <a:ext cx="9144000" cy="5753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for(counter=lb; counter&lt;=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ub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counter++)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("\n element at position %d is %d", counter,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[counter]);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   }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void input(int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[],int lb, int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ub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counter;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for(counter=lb; counter&lt;=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ub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counter++)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("\n input value for the %d", counter);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scanf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("%d",&amp;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[counter]);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 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105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25EB7D-58D1-448E-832E-6EFFB1E6411E}"/>
              </a:ext>
            </a:extLst>
          </p:cNvPr>
          <p:cNvSpPr txBox="1"/>
          <p:nvPr/>
        </p:nvSpPr>
        <p:spPr>
          <a:xfrm>
            <a:off x="303780" y="1229802"/>
            <a:ext cx="9051235" cy="486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void main()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a[100];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lb1,ub1;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("lower limit of array");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scanf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("%d", &amp;lb1);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("\n upper limit");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scanf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("%d", &amp;ub1);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input(a, lb1,ub1);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traverse(a, lb1,ub1);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159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08D781-16CD-4C25-8463-C9C11CAAE7A3}"/>
              </a:ext>
            </a:extLst>
          </p:cNvPr>
          <p:cNvSpPr txBox="1"/>
          <p:nvPr/>
        </p:nvSpPr>
        <p:spPr>
          <a:xfrm>
            <a:off x="112542" y="956603"/>
            <a:ext cx="12192000" cy="5305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  and character array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string is an array of character. A string is defined as any group of character enclosed between double quotation marks. The end of the string is marked with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single character ‘\0’,the NULL character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which has the ASCII value zero.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Syntax : &lt;char&gt;&lt;array name&gt;[size];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20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Initialization of strings</a:t>
            </a:r>
            <a:endParaRPr lang="en-IN" sz="1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String can be initialized at the time of declaration by using a for loop in the program. At the time of declaration, the string can be initialized array in the following manner.</a:t>
            </a: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char name[20]= “AMITY INTERNATIONAL”;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char name[20]={‘A’,’M’,’I’, …….,’N’,’A’,’L’,’\0’};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char name[]= “AMITY INTERNATIONAL”;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char name[]={‘A’,’M’,’I’, …….,’N’,’A’,’L’,’\0’};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488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306978-8BF3-48D3-BC64-161078BBBC7C}"/>
              </a:ext>
            </a:extLst>
          </p:cNvPr>
          <p:cNvSpPr txBox="1"/>
          <p:nvPr/>
        </p:nvSpPr>
        <p:spPr>
          <a:xfrm>
            <a:off x="0" y="927855"/>
            <a:ext cx="12192000" cy="575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//WAP enter a string and find length of string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 &lt;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stdio.h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 main()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int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=0, j=0;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char str[20];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(“enter string”);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gets(str);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while(str[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]!=’\0’)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j++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(“length of string is %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d”,j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014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0FAE1F-57B5-4DA2-BADC-0565FAA198C7}"/>
              </a:ext>
            </a:extLst>
          </p:cNvPr>
          <p:cNvSpPr txBox="1"/>
          <p:nvPr/>
        </p:nvSpPr>
        <p:spPr>
          <a:xfrm>
            <a:off x="450166" y="984738"/>
            <a:ext cx="9144000" cy="5637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//WAP enter two string and overwrite one over another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#include&lt;stdio.h&gt;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#include&lt;conio.h&gt;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 main()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int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i,j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char str1[10],str2[10];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("enter two string");</a:t>
            </a: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gets(str1);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gets(str2);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=0;str1[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]!='\0';i++)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{str1[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]=str2[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}str1[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]='\0';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puts(str1);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getch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   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59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21C296-117E-441E-A4E1-43A58AEBDB9E}"/>
              </a:ext>
            </a:extLst>
          </p:cNvPr>
          <p:cNvSpPr txBox="1"/>
          <p:nvPr/>
        </p:nvSpPr>
        <p:spPr>
          <a:xfrm>
            <a:off x="0" y="963332"/>
            <a:ext cx="11131826" cy="576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      Program to change string from small to caps.</a:t>
            </a:r>
            <a:endParaRPr lang="en-IN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#include&lt;stdio.h&gt;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#include&lt;conio.h&gt;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#include&lt;string.h&gt;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 main()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char a[10];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clrscr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("\n enter the string=");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scanf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("%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s",a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477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E4AFE5-5716-49BB-A6E8-B7B85A5669F9}"/>
              </a:ext>
            </a:extLst>
          </p:cNvPr>
          <p:cNvSpPr txBox="1"/>
          <p:nvPr/>
        </p:nvSpPr>
        <p:spPr>
          <a:xfrm>
            <a:off x="3658620" y="97793"/>
            <a:ext cx="6596728" cy="6662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while(a[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]!='\0')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{if(a[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]&gt;=97&amp;&amp;a[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]&lt;=123)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]=a[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]-32;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("%c", a[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("%c", a[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}}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getch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5418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E60E2F-85E9-4BEC-902F-AECCDEF9FBE7}"/>
              </a:ext>
            </a:extLst>
          </p:cNvPr>
          <p:cNvSpPr txBox="1"/>
          <p:nvPr/>
        </p:nvSpPr>
        <p:spPr>
          <a:xfrm>
            <a:off x="245879" y="1062620"/>
            <a:ext cx="9024730" cy="5238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// Input a string and show each character is vowel or not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#include&lt;stdio.h&gt;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#include&lt;conio.h&gt;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void main()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char </a:t>
            </a:r>
            <a:r>
              <a:rPr lang="en-IN" sz="20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[10];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int </a:t>
            </a:r>
            <a:r>
              <a:rPr lang="en-IN" sz="20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=0;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clrscr</a:t>
            </a: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("enter string ");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scanf</a:t>
            </a: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("%s",</a:t>
            </a:r>
            <a:r>
              <a:rPr lang="en-IN" sz="2000" dirty="0" err="1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303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EB0984-4980-4AD6-B44F-EDCF07981A93}"/>
              </a:ext>
            </a:extLst>
          </p:cNvPr>
          <p:cNvSpPr txBox="1"/>
          <p:nvPr/>
        </p:nvSpPr>
        <p:spPr>
          <a:xfrm>
            <a:off x="970671" y="967621"/>
            <a:ext cx="9144000" cy="4922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while(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]!='\0')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if(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]=='a' || 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]=='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' || 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]== 'e' || 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]=='o' || 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]=='u')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("%c  is vowel", 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]);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("%c  is not vowel", 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]);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++;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95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145B7B-93BA-40F3-91EC-BFB71D6310ED}"/>
              </a:ext>
            </a:extLst>
          </p:cNvPr>
          <p:cNvSpPr txBox="1"/>
          <p:nvPr/>
        </p:nvSpPr>
        <p:spPr>
          <a:xfrm>
            <a:off x="438749" y="1198608"/>
            <a:ext cx="8958470" cy="552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 WAP Enter a string and check whether it is palindrome or not</a:t>
            </a:r>
            <a:endParaRPr lang="en-IN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#include&lt;stdio.h&gt;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 main()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char str[20];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("enter sentence");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gets(str);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for(</a:t>
            </a:r>
            <a:r>
              <a:rPr lang="en-IN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=0;str[</a:t>
            </a:r>
            <a:r>
              <a:rPr lang="en-IN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]!='\0';i++);</a:t>
            </a:r>
            <a:endParaRPr lang="en-IN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=i-1;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=0;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7558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2B8BC0-2C93-47A4-B025-F462495263D4}"/>
              </a:ext>
            </a:extLst>
          </p:cNvPr>
          <p:cNvSpPr txBox="1"/>
          <p:nvPr/>
        </p:nvSpPr>
        <p:spPr>
          <a:xfrm>
            <a:off x="149036" y="992893"/>
            <a:ext cx="9051235" cy="5934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while(str[</a:t>
            </a:r>
            <a:r>
              <a:rPr lang="en-IN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]==str[</a:t>
            </a:r>
            <a:r>
              <a:rPr lang="en-IN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])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if(</a:t>
            </a:r>
            <a:r>
              <a:rPr lang="en-IN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IN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break;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}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if(</a:t>
            </a:r>
            <a:r>
              <a:rPr lang="en-IN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IN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puts("palindrome");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else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puts("not palindrome");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99859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E21BF10E-4001-47E8-AA00-BBA5140F24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fld id="{36671213-5958-4B8F-A8AD-3B0019ED4E32}" type="slidenum">
              <a:rPr lang="en-US" altLang="en-US"/>
              <a:pPr>
                <a:spcAft>
                  <a:spcPts val="600"/>
                </a:spcAft>
                <a:defRPr/>
              </a:pPr>
              <a:t>23</a:t>
            </a:fld>
            <a:endParaRPr lang="en-US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053285-1D16-4BF6-8CA4-94FBD6A59680}"/>
              </a:ext>
            </a:extLst>
          </p:cNvPr>
          <p:cNvSpPr/>
          <p:nvPr/>
        </p:nvSpPr>
        <p:spPr>
          <a:xfrm>
            <a:off x="4265917" y="2967335"/>
            <a:ext cx="36601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You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32241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1585</Words>
  <Application>Microsoft Office PowerPoint</Application>
  <PresentationFormat>Widescreen</PresentationFormat>
  <Paragraphs>228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Symbol</vt:lpstr>
      <vt:lpstr>Times New Roman</vt:lpstr>
      <vt:lpstr>Office Theme</vt:lpstr>
      <vt:lpstr>Default Design</vt:lpstr>
      <vt:lpstr>Data Structures Using C Course Code: CSIT124 B. Tech. (CSE) Module 1     Dr. Sheenu Rizvi      Asst. Professor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srizvi@amity.edu</dc:creator>
  <cp:lastModifiedBy>Dr. Sheenu Rizvi</cp:lastModifiedBy>
  <cp:revision>24</cp:revision>
  <dcterms:created xsi:type="dcterms:W3CDTF">2020-07-22T05:01:32Z</dcterms:created>
  <dcterms:modified xsi:type="dcterms:W3CDTF">2021-07-27T04:35:02Z</dcterms:modified>
</cp:coreProperties>
</file>